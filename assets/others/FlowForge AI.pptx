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5621A-3713-8212-846B-0A0AAEED1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FFFD1-E732-F919-E8BC-98637E56CC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1DA5B-EA17-FB3B-5BDE-758EDFA09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8093BD-FF5F-F3C5-E444-16C1ADAE1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5F8F9-F240-1D54-95C1-C3B5D172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A61E-E377-3ACE-4958-8A218D613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4BA05-35EE-8DA7-C2E6-5C40C0E8D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8F83F-2DEB-7F88-7FA8-D74B6FC0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41F76-DD70-0E6A-0EC1-8A00B7C62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267F1-17DB-92A4-1CAE-3A828E7A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671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C5739-A1DB-A27B-9BA5-530370DCF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BE6F0-7985-18C4-EC2A-81161D0BD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EFC26-0F30-CBA3-414F-11FFD96C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03CB-12B5-E605-6AC6-33121566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0BDFB-C1B3-2631-2142-EFD3EC91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22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B201-CA2A-1489-61EB-B4BA59FFC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F318-F233-D11C-E64F-CDAF1A1CC6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3DEF9-A7CE-29F9-F4AC-057686CB4E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512EEE-6317-34A0-0A24-AEE82A1F3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5F1293-A65D-FE20-5847-AF2C33BE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339AA-3E6E-3D3F-17C3-365735EEE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70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D1C9E-FB93-121D-5086-972F1EA1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EE34F-8C9B-512B-E160-AFB95B29E9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73A23B-B221-E5AC-C24C-17CB56CD1B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40077-29FB-073A-5BA0-683EF49357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70AFC-EA4B-9CE5-AF9E-7243885BE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DE5075-98B7-C674-69E9-57CA7946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B748DF-889D-5290-8B27-CFA0E2694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2D90D-4678-F0CD-6DF8-E110193D8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80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F937D-2306-CF7D-3AC4-1F683166D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B1D2DF-A864-AD0D-183C-67F5BBD6E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5229C6-55A9-6212-674F-899337B84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52E46-EF91-F6CF-5FFE-522D60DE7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6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F6988E-C84F-1720-580F-1CE4799D3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FC6FB-DD5F-6611-0687-08C9B6FBC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1C6F1-6F2D-AF39-91EF-982C9D4E7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005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28AEE-D375-B97D-1969-78B54D61C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B017F-B458-8E73-19BA-E67AA173C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2FB94-60D1-7B8A-091E-9A3D6A3A5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3E0A5-3F01-97D0-FB41-50A87DA31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BE0CA-66DB-125C-15AC-56C74861B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73224-A1F0-419B-5DCC-4CE96D399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674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6E52-8C01-66F9-83F3-A6BD8D473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516D8A-E2A1-24F1-6E09-E149AC4829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FBE7A-F15D-658F-1335-05E7E8A38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E5A2D-1290-FAFD-6037-186B2FBFD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A8431D-0C42-959F-68F4-5EBF2A34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DFB44-332E-4264-CCF3-AA01CA84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8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0BCD6-0879-1AA3-2851-B2E4297E6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877F00-5F80-7AEA-A7E4-6EF19E898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ADC7F7-782F-8828-DC98-BBEFACA6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DDC05-DDEE-B6CE-9DC1-087E00AF3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91EE-925D-14BF-1BEC-662D427B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186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E153E-350E-F025-4EA3-7C9BC224F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33662F-091A-5514-3388-DFFB2E75D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4A0AA-C1D2-B649-1D4B-881E9EA5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5F6EC-4F29-0224-123E-AEB807712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73F3-0DAD-3AE8-5EE2-9EE63A2D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689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rgbClr val="FFC000">
                <a:lumMod val="50000"/>
                <a:lumOff val="50000"/>
                <a:alpha val="75000"/>
              </a:srgb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58C68-2665-A1C8-400C-2FB525C6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80D79-BB29-C53F-87E2-DAA78A023C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39827-3C21-D90F-C2C7-AED949C88B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8EC035-A8C3-4C48-8BF0-A9A27327B75D}" type="datetimeFigureOut">
              <a:rPr lang="en-IN" smtClean="0"/>
              <a:t>16-02-2026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C3C8A-5F58-FF1D-079E-D02E6F934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D7891-353A-10C2-1936-486F23347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9761B-7679-4F1E-B10C-57A8FB1562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63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4B7A4-6B2A-85DE-AF31-6BAF199945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0191"/>
            <a:ext cx="9144000" cy="1011056"/>
          </a:xfrm>
        </p:spPr>
        <p:txBody>
          <a:bodyPr>
            <a:normAutofit/>
          </a:bodyPr>
          <a:lstStyle/>
          <a:p>
            <a:pPr algn="r"/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Presented By</a:t>
            </a:r>
          </a:p>
          <a:p>
            <a:pPr algn="r"/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Venkat Mamindla | Pooja Chandorkar | Vipin Panthri | Shashank Prakash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B91C47-2A29-7E88-1EF0-EC6F51452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509" y="932407"/>
            <a:ext cx="7654982" cy="373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107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2112C-9E39-C4E9-CEB6-BC2C5141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03"/>
            <a:ext cx="10515600" cy="92362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7EBCA-4F16-10EE-FEF9-40E0295C6B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407"/>
            <a:ext cx="10515600" cy="459977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process we follow: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Manual EDA and feature engineering increase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time-to-model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Experiment tracking, model/data lineage and reproducibility remain fragmented.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Model governance and documentation are often </a:t>
            </a: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post-hoc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SME inputs are not systematically integrated into pipelines.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Monitoring and explainability setups require additional tooling.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Knowledge transfer across teams is slow and documentation-heavy.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Impact Today:</a:t>
            </a: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Longer model deployment cycles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Higher operational overhead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Governance and audit risks</a:t>
            </a: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Reduced experimentation velocity</a:t>
            </a:r>
          </a:p>
        </p:txBody>
      </p:sp>
    </p:spTree>
    <p:extLst>
      <p:ext uri="{BB962C8B-B14F-4D97-AF65-F5344CB8AC3E}">
        <p14:creationId xmlns:p14="http://schemas.microsoft.com/office/powerpoint/2010/main" val="342787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3FB94-8785-A5B8-AEB7-31FEBB33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920F-C758-F652-A9D8-9CA193D7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03"/>
            <a:ext cx="10515600" cy="92362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Proposed Solution: FlowForge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25425-6A88-5309-E69F-BBEB85046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407"/>
            <a:ext cx="10515600" cy="45997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FlowForge</a:t>
            </a:r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is an end-to-end agentic MLOps platform that automates model development, experimentation, governance, and monitoring using AI agents with a “human-in-the-loop” workflow.</a:t>
            </a:r>
          </a:p>
          <a:p>
            <a:pPr marL="0" indent="0">
              <a:buNone/>
            </a:pP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 Capabilities: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Automated EDA “Vibe Analysis”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AI-driven feature engineering &amp; selection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AutoML</a:t>
            </a: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model training &amp; hyperparameter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MLflow</a:t>
            </a: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experiment tracking &amp; registry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OOT validation &amp; fairness checks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Monitoring &amp; drift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Auto-generated model documentation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RAG-based lifecycle knowledge search</a:t>
            </a:r>
          </a:p>
          <a:p>
            <a:pPr marL="0" indent="0">
              <a:buNone/>
            </a:pPr>
            <a:endParaRPr lang="en-US" sz="2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767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05B5B-BB77-F9DC-DDAB-33C7D386D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62953-62DE-3F54-720C-3F97D17E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03"/>
            <a:ext cx="10515600" cy="92362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Architecture Diagram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999185-5EF5-AAE1-44FC-497317437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838200" y="1436189"/>
            <a:ext cx="10515600" cy="313203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63761-8D42-7BF7-2AE2-7B41F28D4FCC}"/>
              </a:ext>
            </a:extLst>
          </p:cNvPr>
          <p:cNvSpPr txBox="1">
            <a:spLocks/>
          </p:cNvSpPr>
          <p:nvPr/>
        </p:nvSpPr>
        <p:spPr>
          <a:xfrm>
            <a:off x="838200" y="4841873"/>
            <a:ext cx="10515600" cy="1159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Architectural Highlights: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EF64CC2-89FC-6CD8-09C2-F0CC61082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331216"/>
              </p:ext>
            </p:extLst>
          </p:nvPr>
        </p:nvGraphicFramePr>
        <p:xfrm>
          <a:off x="1030319" y="5193475"/>
          <a:ext cx="10131362" cy="741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65681">
                  <a:extLst>
                    <a:ext uri="{9D8B030D-6E8A-4147-A177-3AD203B41FA5}">
                      <a16:colId xmlns:a16="http://schemas.microsoft.com/office/drawing/2014/main" val="1933109179"/>
                    </a:ext>
                  </a:extLst>
                </a:gridCol>
                <a:gridCol w="5065681">
                  <a:extLst>
                    <a:ext uri="{9D8B030D-6E8A-4147-A177-3AD203B41FA5}">
                      <a16:colId xmlns:a16="http://schemas.microsoft.com/office/drawing/2014/main" val="2398818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User Feedback Based Development and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Agent orchestration via backend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40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Full experiment lineage &amp; artifact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Agentic RAG based Knowledge Search</a:t>
                      </a:r>
                      <a:endParaRPr lang="en-IN" sz="16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514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7523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87E34-0002-A35C-FEEB-C6ABA7AF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F3D1-FF40-0FB4-6644-C2304BAA3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003"/>
            <a:ext cx="10515600" cy="923627"/>
          </a:xfrm>
        </p:spPr>
        <p:txBody>
          <a:bodyPr>
            <a:normAutofit/>
          </a:bodyPr>
          <a:lstStyle/>
          <a:p>
            <a:r>
              <a:rPr lang="en-IN" sz="4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Business Benefits and ROI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A53BE79-78C7-1B15-9648-4E88D79BBA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77627"/>
              </p:ext>
            </p:extLst>
          </p:nvPr>
        </p:nvGraphicFramePr>
        <p:xfrm>
          <a:off x="838200" y="1825624"/>
          <a:ext cx="10515597" cy="3502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6991926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66681601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60331725"/>
                    </a:ext>
                  </a:extLst>
                </a:gridCol>
              </a:tblGrid>
              <a:tr h="402075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Operational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Risk and Compliance Benefits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Cost and Productivity Gains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548522"/>
                  </a:ext>
                </a:extLst>
              </a:tr>
              <a:tr h="775114">
                <a:tc>
                  <a:txBody>
                    <a:bodyPr/>
                    <a:lstStyle/>
                    <a:p>
                      <a:pPr lvl="1" algn="l"/>
                      <a:r>
                        <a:rPr 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40–60% reduction in time-to-model development</a:t>
                      </a:r>
                      <a:endParaRPr lang="en-IN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Built-in model 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Reduced manual analytics effort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795166"/>
                  </a:ext>
                </a:extLst>
              </a:tr>
              <a:tr h="775114"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Faster experimentation &amp; model 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Monitoring &amp; drift detection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Lower documentation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4170809"/>
                  </a:ext>
                </a:extLst>
              </a:tr>
              <a:tr h="775114"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Auto-generated governance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SME-validated feature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Faster onboarding &amp; knowledge transfer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9891643"/>
                  </a:ext>
                </a:extLst>
              </a:tr>
              <a:tr h="775114"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Improved auditability &amp; traceability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Centralized experiment lineage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1" algn="l"/>
                      <a:r>
                        <a:rPr lang="en-I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Scalable multi-team 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944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0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541A9-16C0-C403-3E43-8DB8B3E56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4D60D9-5D8E-4825-FD60-5E11F5874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07854"/>
            <a:ext cx="9144000" cy="842292"/>
          </a:xfrm>
        </p:spPr>
        <p:txBody>
          <a:bodyPr>
            <a:normAutofit/>
          </a:bodyPr>
          <a:lstStyle/>
          <a:p>
            <a:r>
              <a:rPr lang="en-IN" sz="5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08899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254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Problem Statement</vt:lpstr>
      <vt:lpstr>Proposed Solution: FlowForge</vt:lpstr>
      <vt:lpstr>Architecture Diagram</vt:lpstr>
      <vt:lpstr>Business Benefits and ROI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Prakash</dc:creator>
  <cp:lastModifiedBy>Shashank Prakash</cp:lastModifiedBy>
  <cp:revision>6</cp:revision>
  <dcterms:created xsi:type="dcterms:W3CDTF">2026-02-16T17:27:02Z</dcterms:created>
  <dcterms:modified xsi:type="dcterms:W3CDTF">2026-02-16T18:30:35Z</dcterms:modified>
</cp:coreProperties>
</file>